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4" r:id="rId9"/>
    <p:sldId id="261" r:id="rId10"/>
    <p:sldId id="262" r:id="rId11"/>
    <p:sldId id="263" r:id="rId12"/>
  </p:sldIdLst>
  <p:sldSz cx="12192000" cy="6858000"/>
  <p:notesSz cx="6858000" cy="9144000"/>
  <p:embeddedFontLst>
    <p:embeddedFont>
      <p:font typeface="Calibri" panose="020F0502020204030204"/>
      <p:regular r:id="rId16"/>
      <p:bold r:id="rId17"/>
      <p:italic r:id="rId18"/>
      <p:boldItalic r:id="rId19"/>
    </p:embeddedFont>
    <p:embeddedFont>
      <p:font typeface="Merriweather" panose="00000500000000000000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CF8681-72F3-4CD6-9944-A3900A979407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orient="horz" pos="215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2.fntdata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0" name="Google Shape;2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5" name="Google Shape;2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10" Type="http://schemas.openxmlformats.org/officeDocument/2006/relationships/image" Target="../media/image26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1600201"/>
            <a:ext cx="5238750" cy="3432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5268611"/>
            <a:ext cx="5238750" cy="8384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72084" y="293108"/>
            <a:ext cx="8865108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DocuTrack</a:t>
            </a:r>
          </a:p>
        </p:txBody>
      </p:sp>
      <p:sp>
        <p:nvSpPr>
          <p:cNvPr id="89" name="Google Shape;89;p13"/>
          <p:cNvSpPr txBox="1"/>
          <p:nvPr/>
        </p:nvSpPr>
        <p:spPr>
          <a:xfrm>
            <a:off x="6667500" y="1885950"/>
            <a:ext cx="490061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3366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Team Members</a:t>
            </a:r>
            <a:endParaRPr lang="en-US" sz="1405" b="1" i="0" u="none" strike="noStrike" cap="none">
              <a:solidFill>
                <a:srgbClr val="003366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667500" y="2200275"/>
            <a:ext cx="466725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667499" y="3853196"/>
            <a:ext cx="481012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Section</a:t>
            </a:r>
            <a:r>
              <a:rPr lang="en-IN" altLang="en-US" sz="1500" b="1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: S3</a:t>
            </a:r>
            <a:endParaRPr lang="en-IN" altLang="en-US" sz="1500" b="1" i="0" u="none" strike="noStrike" cap="none" dirty="0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667499" y="4249097"/>
            <a:ext cx="481012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Academic Year</a:t>
            </a:r>
            <a:r>
              <a:rPr lang="en-IN" altLang="en-US" sz="1500" b="1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: 2025-26</a:t>
            </a:r>
            <a:endParaRPr lang="en-IN" altLang="en-US" sz="1500" b="1" i="0" u="none" strike="noStrike" cap="none" dirty="0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667500" y="2409825"/>
            <a:ext cx="466725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Student 1:</a:t>
            </a:r>
            <a:r>
              <a:rPr lang="en-US" sz="1500" b="0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Roll No </a:t>
            </a:r>
            <a:r>
              <a:rPr lang="en-IN" altLang="en-US" sz="1500" b="0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- </a:t>
            </a:r>
            <a:r>
              <a:rPr lang="en-IN" altLang="en-US" sz="1500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2500031529 Ayan Roy</a:t>
            </a:r>
            <a:endParaRPr lang="en-IN" altLang="en-US" sz="1500" b="0" i="0" u="none" strike="noStrike" cap="none" dirty="0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altLang="en-US" sz="1500" b="0" i="0" u="none" strike="noStrike" cap="none" dirty="0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6667500" y="2762250"/>
            <a:ext cx="46672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667500" y="2819400"/>
            <a:ext cx="46672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IN" altLang="en-US" sz="1500" b="1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Student 2:</a:t>
            </a:r>
            <a:r>
              <a:rPr lang="en-US" sz="1500" b="0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Roll No</a:t>
            </a:r>
            <a:r>
              <a:rPr lang="en-US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IN" altLang="en-US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- </a:t>
            </a:r>
            <a:r>
              <a:rPr lang="en-IN" altLang="en-US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2500030880 Mun Mun Nayak</a:t>
            </a:r>
            <a:endParaRPr lang="en-IN" altLang="en-US" dirty="0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6667500" y="3171825"/>
            <a:ext cx="46672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6667500" y="3228975"/>
            <a:ext cx="46672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Student 3:</a:t>
            </a:r>
            <a:r>
              <a:rPr lang="en-US" sz="1500" b="0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Roll No</a:t>
            </a:r>
            <a:r>
              <a:rPr lang="en-US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-</a:t>
            </a:r>
            <a:r>
              <a:rPr lang="en-IN" altLang="en-US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IN" altLang="en-US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2500030888  Kundan Kumar</a:t>
            </a:r>
            <a:endParaRPr lang="en-IN" altLang="en-US" dirty="0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6667500" y="3581400"/>
            <a:ext cx="46672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6667500" y="3982720"/>
            <a:ext cx="46672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6577012" y="5308085"/>
            <a:ext cx="490061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3366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Faculty Mentor</a:t>
            </a:r>
            <a:endParaRPr dirty="0"/>
          </a:p>
        </p:txBody>
      </p:sp>
      <p:sp>
        <p:nvSpPr>
          <p:cNvPr id="104" name="Google Shape;104;p13"/>
          <p:cNvSpPr txBox="1"/>
          <p:nvPr/>
        </p:nvSpPr>
        <p:spPr>
          <a:xfrm>
            <a:off x="6577012" y="5755360"/>
            <a:ext cx="4667250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Dr. Sreedhar Burada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BF0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Problem Statement &amp; Objective</a:t>
            </a:r>
            <a:endParaRPr lang="en-US" sz="3600" b="1" i="0" u="none" strike="noStrike" cap="none">
              <a:solidFill>
                <a:srgbClr val="FFFBF0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571500" y="160020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D4AF37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Problem Statement</a:t>
            </a:r>
            <a:endParaRPr lang="en-US" sz="1405" b="1" i="0" u="none" strike="noStrike" cap="none">
              <a:solidFill>
                <a:srgbClr val="D4AF37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571500" y="2047875"/>
            <a:ext cx="5238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>
                <a:solidFill>
                  <a:schemeClr val="bg1"/>
                </a:solidFill>
              </a:rPr>
              <a:t>DocuTrack solves the problem of managing, indexing, and analyzing large document pools efficiently. It provides quick lookups, identifies relationships, and optimizes operations using advanced DSA, mimicking a real-world document tracking ecosystem.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381750" y="160020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D4AF37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Objectives</a:t>
            </a:r>
            <a:endParaRPr lang="en-US" sz="1405" b="1" i="0" u="none" strike="noStrike" cap="none">
              <a:solidFill>
                <a:srgbClr val="D4AF37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381750" y="35909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D4AF37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Target Users</a:t>
            </a:r>
            <a:endParaRPr lang="en-US" sz="1405" b="1" i="0" u="none" strike="noStrike" cap="none">
              <a:solidFill>
                <a:srgbClr val="D4AF37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381750" y="40005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r>
              <a:rPr>
                <a:solidFill>
                  <a:schemeClr val="bg1"/>
                </a:solidFill>
              </a:rPr>
              <a:t>Students, Administrators, and Developers learning applied DSA.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715125" y="2009775"/>
            <a:ext cx="4905375" cy="448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>
                <a:solidFill>
                  <a:schemeClr val="bg1"/>
                </a:solidFill>
              </a:rPr>
              <a:t>Implement Core Data Structures (BST, AVL, Graph, Tries) for document management.</a:t>
            </a:r>
            <a:endParaRPr>
              <a:solidFill>
                <a:schemeClr val="bg1"/>
              </a:solidFill>
            </a:endParaRPr>
          </a:p>
          <a:p>
            <a:endParaRPr>
              <a:solidFill>
                <a:schemeClr val="bg1"/>
              </a:solidFill>
            </a:endParaRPr>
          </a:p>
          <a:p>
            <a:endParaRPr>
              <a:solidFill>
                <a:schemeClr val="bg1"/>
              </a:solidFill>
            </a:endParaRPr>
          </a:p>
          <a:p>
            <a:endParaRPr>
              <a:solidFill>
                <a:schemeClr val="bg1"/>
              </a:solidFill>
            </a:endParaRPr>
          </a:p>
          <a:p>
            <a:endParaRPr>
              <a:solidFill>
                <a:schemeClr val="bg1"/>
              </a:solidFill>
            </a:endParaRPr>
          </a:p>
          <a:p>
            <a:endParaRPr>
              <a:solidFill>
                <a:schemeClr val="bg1"/>
              </a:solidFill>
            </a:endParaRPr>
          </a:p>
          <a:p>
            <a:endParaRPr>
              <a:solidFill>
                <a:schemeClr val="bg1"/>
              </a:solidFill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6715125" y="24574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>
                <a:solidFill>
                  <a:schemeClr val="bg1"/>
                </a:solidFill>
              </a:rPr>
              <a:t>Demonstrate Path Optimization and Storage Algorithms (Dijkstra, Knapsack, LIS).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715125" y="29051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>
                <a:solidFill>
                  <a:schemeClr val="bg1"/>
                </a:solidFill>
              </a:rPr>
              <a:t>Deliver a robust, cohesive console application uniting all 6 CO modules.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19" name="Google Shape;119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405765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0383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4574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9051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1600200"/>
            <a:ext cx="3492549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49799" y="1600200"/>
            <a:ext cx="3492549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28099" y="1600200"/>
            <a:ext cx="3492549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58039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Technologies &amp; Concepts Used</a:t>
            </a:r>
            <a:endParaRPr lang="en-US" sz="3600" b="1" i="0" u="none" strike="noStrike" cap="none">
              <a:solidFill>
                <a:srgbClr val="003366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172557" y="2619375"/>
            <a:ext cx="229028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Development Stack</a:t>
            </a:r>
            <a:endParaRPr lang="en-US" sz="1800" b="1" i="0" u="none" strike="noStrike" cap="none">
              <a:solidFill>
                <a:srgbClr val="003366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4980860" y="2619375"/>
            <a:ext cx="223027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Core Java Concepts</a:t>
            </a:r>
            <a:endParaRPr lang="en-US" sz="1800" b="1" i="0" u="none" strike="noStrike" cap="none">
              <a:solidFill>
                <a:srgbClr val="003366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8899177" y="2619375"/>
            <a:ext cx="195024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Additional Tools</a:t>
            </a:r>
            <a:endParaRPr lang="en-US" sz="1800" b="1" i="0" u="none" strike="noStrike" cap="none">
              <a:solidFill>
                <a:srgbClr val="003366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03387" y="19812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1190625" y="3209925"/>
            <a:ext cx="258767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Language:</a:t>
            </a: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Java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190625" y="3657600"/>
            <a:ext cx="258767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Platform:</a:t>
            </a: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Console / Desktop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1190625" y="4105275"/>
            <a:ext cx="258767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IDE:</a:t>
            </a: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Eclipse / IntelliJ / VS Code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9" name="Google Shape;139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905500" y="19812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4968924" y="3106293"/>
            <a:ext cx="258767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Data Structures (BST, AVL, Graph)</a:t>
            </a:r>
            <a:endParaRPr dirty="0"/>
          </a:p>
        </p:txBody>
      </p:sp>
      <p:sp>
        <p:nvSpPr>
          <p:cNvPr id="141" name="Google Shape;141;p15"/>
          <p:cNvSpPr txBox="1"/>
          <p:nvPr/>
        </p:nvSpPr>
        <p:spPr>
          <a:xfrm>
            <a:off x="4968924" y="3657600"/>
            <a:ext cx="258767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Graph Traversals (BFS, DFS)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4968924" y="4105275"/>
            <a:ext cx="258767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Path Optimization (Dijkstra, Bellman-Ford)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4968875" y="4552950"/>
            <a:ext cx="25876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0" i="0" u="none" strike="noStrike" cap="none" dirty="0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Sorting (Merge, Quick, Heap, Radix)</a:t>
            </a:r>
            <a:endParaRPr dirty="0"/>
          </a:p>
        </p:txBody>
      </p:sp>
      <p:pic>
        <p:nvPicPr>
          <p:cNvPr id="144" name="Google Shape;144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683799" y="19812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8747224" y="3209925"/>
            <a:ext cx="258767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Java Collections Framework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8747224" y="3657600"/>
            <a:ext cx="258767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Storage Optimization (Knapsack, LIS)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8747224" y="4105275"/>
            <a:ext cx="2587674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Greedy Algorit</a:t>
            </a:r>
            <a:r>
              <a:rPr lang="en-IN" alt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hm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hms (Activity Selection)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8" name="Google Shape;148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7250" y="32099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7250" y="36576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7250" y="41052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635549" y="32099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635549" y="36576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635549" y="41052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635549" y="4552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13849" y="32099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13849" y="36576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13849" y="41052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286500" y="1600200"/>
            <a:ext cx="5334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571500" y="47625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BF0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System Architecture/ Data Flow Diagram</a:t>
            </a:r>
            <a:endParaRPr dirty="0"/>
          </a:p>
        </p:txBody>
      </p:sp>
      <p:sp>
        <p:nvSpPr>
          <p:cNvPr id="164" name="Google Shape;164;p1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571500" y="16859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D4AF37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Data Flow</a:t>
            </a:r>
            <a:endParaRPr lang="en-US" sz="1405" b="1" i="0" u="none" strike="noStrike" cap="none">
              <a:solidFill>
                <a:srgbClr val="D4AF37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904875" y="209550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BF0"/>
                </a:solidFill>
                <a:latin typeface="DM Sans"/>
                <a:ea typeface="DM Sans"/>
                <a:cs typeface="DM Sans"/>
                <a:sym typeface="DM Sans"/>
              </a:rPr>
              <a:t>Console Menu (Admin/User)</a:t>
            </a:r>
            <a:endParaRPr dirty="0"/>
          </a:p>
        </p:txBody>
      </p:sp>
      <p:sp>
        <p:nvSpPr>
          <p:cNvPr id="169" name="Google Shape;169;p16"/>
          <p:cNvSpPr txBox="1"/>
          <p:nvPr/>
        </p:nvSpPr>
        <p:spPr>
          <a:xfrm>
            <a:off x="904875" y="254317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BF0"/>
                </a:solidFill>
                <a:latin typeface="DM Sans"/>
                <a:ea typeface="DM Sans"/>
                <a:cs typeface="DM Sans"/>
                <a:sym typeface="DM Sans"/>
              </a:rPr>
              <a:t>Authentication &amp; Routing</a:t>
            </a:r>
            <a:endParaRPr dirty="0"/>
          </a:p>
        </p:txBody>
      </p:sp>
      <p:sp>
        <p:nvSpPr>
          <p:cNvPr id="170" name="Google Shape;170;p16"/>
          <p:cNvSpPr txBox="1"/>
          <p:nvPr/>
        </p:nvSpPr>
        <p:spPr>
          <a:xfrm>
            <a:off x="904875" y="299085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BF0"/>
                </a:solidFill>
                <a:latin typeface="DM Sans"/>
                <a:ea typeface="DM Sans"/>
                <a:cs typeface="DM Sans"/>
                <a:sym typeface="DM Sans"/>
              </a:rPr>
              <a:t>DSA Operations (Algorithms)</a:t>
            </a:r>
            <a:endParaRPr lang="en-US" sz="1500" b="0" i="0" u="none" strike="noStrike" cap="none">
              <a:solidFill>
                <a:srgbClr val="FFFBF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904875" y="3438525"/>
            <a:ext cx="5000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BF0"/>
                </a:solidFill>
                <a:latin typeface="DM Sans"/>
                <a:ea typeface="DM Sans"/>
                <a:cs typeface="DM Sans"/>
                <a:sym typeface="DM Sans"/>
              </a:rPr>
              <a:t>File I/</a:t>
            </a:r>
            <a:r>
              <a:rPr lang="en-US" sz="1500" dirty="0">
                <a:solidFill>
                  <a:srgbClr val="FFFBF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endParaRPr dirty="0"/>
          </a:p>
        </p:txBody>
      </p:sp>
      <p:sp>
        <p:nvSpPr>
          <p:cNvPr id="172" name="Google Shape;172;p16"/>
          <p:cNvSpPr txBox="1"/>
          <p:nvPr/>
        </p:nvSpPr>
        <p:spPr>
          <a:xfrm>
            <a:off x="904875" y="388620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BF0"/>
                </a:solidFill>
                <a:latin typeface="DM Sans"/>
                <a:ea typeface="DM Sans"/>
                <a:cs typeface="DM Sans"/>
                <a:sym typeface="DM Sans"/>
              </a:rPr>
              <a:t>Console Output Results</a:t>
            </a:r>
            <a:endParaRPr lang="en-US" sz="1500" b="0" i="0" u="none" strike="noStrike" cap="none">
              <a:solidFill>
                <a:srgbClr val="FFFBF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6" name="Google Shape;176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095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5431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9908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4385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8862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69011" y="1569767"/>
            <a:ext cx="523875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1600200"/>
            <a:ext cx="523875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Class Design</a:t>
            </a:r>
            <a:endParaRPr lang="en-US" sz="3600" b="1" i="0" u="none" strike="noStrike" cap="none">
              <a:solidFill>
                <a:srgbClr val="003366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92" name="Google Shape;192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57250" y="194786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1285875" y="1933575"/>
            <a:ext cx="161020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Major Classes</a:t>
            </a:r>
            <a:endParaRPr lang="en-US" sz="1800" b="1" i="0" u="none" strike="noStrike" cap="none">
              <a:solidFill>
                <a:srgbClr val="003366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1190625" y="2571750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Class 1:</a:t>
            </a: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Primary Responsibility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1190625" y="3019425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Class 2:</a:t>
            </a: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Primary Responsibility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1190625" y="3467100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Class 3:</a:t>
            </a: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Primary Responsibility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1190625" y="3914775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Utility Class:</a:t>
            </a: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Helper methods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8" name="Google Shape;198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67500" y="194786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7067550" y="1933575"/>
            <a:ext cx="249031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Interfaces &amp; Patterns</a:t>
            </a:r>
            <a:endParaRPr lang="en-US" sz="1800" b="1" i="0" u="none" strike="noStrike" cap="none">
              <a:solidFill>
                <a:srgbClr val="003366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7000875" y="2571750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Interface 1:</a:t>
            </a: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Purpose &amp; Contract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7000875" y="3019425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Abstract Class:</a:t>
            </a: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Shared behavior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7000875" y="3619500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Design Pattern:</a:t>
            </a: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Singleton / Factory / MVC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7000875" y="4067175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Usage:</a:t>
            </a:r>
            <a:r>
              <a:rPr lang="en-US" sz="1500" b="0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How it's applied in project</a:t>
            </a:r>
            <a:endParaRPr lang="en-US" sz="1500" b="0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4" name="Google Shape;204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57250" y="25717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57250" y="30194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57250" y="3467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57250" y="39147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67500" y="25717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67500" y="30194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67500" y="3619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67500" y="40671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62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2729611" y="5267134"/>
            <a:ext cx="5334000" cy="110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class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9580" y="123825"/>
            <a:ext cx="6689090" cy="6610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995737" y="138906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934075" y="138906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0487" y="138906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53575" y="138906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571500" y="47625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BF0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CLI/ Menu Flow</a:t>
            </a:r>
            <a:endParaRPr dirty="0"/>
          </a:p>
        </p:txBody>
      </p:sp>
      <p:sp>
        <p:nvSpPr>
          <p:cNvPr id="221" name="Google Shape;221;p1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1078706" y="3554949"/>
            <a:ext cx="10587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DDDDDD"/>
                </a:solidFill>
                <a:latin typeface="DM Sans"/>
                <a:ea typeface="DM Sans"/>
                <a:cs typeface="DM Sans"/>
                <a:sym typeface="DM Sans"/>
              </a:rPr>
              <a:t>The user navigates through the menu options to perform operations, generate reports, and save data before exiting.</a:t>
            </a:r>
            <a:endParaRPr dirty="0"/>
          </a:p>
        </p:txBody>
      </p:sp>
      <p:pic>
        <p:nvPicPr>
          <p:cNvPr id="223" name="Google Shape;223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252787" y="196428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300662" y="196428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129462" y="196428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913018" y="198797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 txBox="1"/>
          <p:nvPr/>
        </p:nvSpPr>
        <p:spPr>
          <a:xfrm>
            <a:off x="1757362" y="2322516"/>
            <a:ext cx="11144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BF0"/>
                </a:solidFill>
                <a:latin typeface="DM Sans"/>
                <a:ea typeface="DM Sans"/>
                <a:cs typeface="DM Sans"/>
                <a:sym typeface="DM Sans"/>
              </a:rPr>
              <a:t>Start DocuTrack</a:t>
            </a:r>
            <a:endParaRPr dirty="0"/>
          </a:p>
        </p:txBody>
      </p:sp>
      <p:sp>
        <p:nvSpPr>
          <p:cNvPr id="229" name="Google Shape;229;p18"/>
          <p:cNvSpPr txBox="1"/>
          <p:nvPr/>
        </p:nvSpPr>
        <p:spPr>
          <a:xfrm>
            <a:off x="3833812" y="2322516"/>
            <a:ext cx="1085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BF0"/>
                </a:solidFill>
                <a:latin typeface="DM Sans"/>
                <a:ea typeface="DM Sans"/>
                <a:cs typeface="DM Sans"/>
                <a:sym typeface="DM Sans"/>
              </a:rPr>
              <a:t>Login Admin/User</a:t>
            </a:r>
            <a:endParaRPr lang="en-US" sz="1350" b="0" i="0" u="none" strike="noStrike" cap="none">
              <a:solidFill>
                <a:srgbClr val="FFFBF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5881687" y="2322516"/>
            <a:ext cx="8667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BF0"/>
                </a:solidFill>
                <a:latin typeface="DM Sans"/>
                <a:ea typeface="DM Sans"/>
                <a:cs typeface="DM Sans"/>
                <a:sym typeface="DM Sans"/>
              </a:rPr>
              <a:t>Select Module (1-6)</a:t>
            </a:r>
            <a:endParaRPr dirty="0"/>
          </a:p>
        </p:txBody>
      </p:sp>
      <p:sp>
        <p:nvSpPr>
          <p:cNvPr id="231" name="Google Shape;231;p18"/>
          <p:cNvSpPr txBox="1"/>
          <p:nvPr/>
        </p:nvSpPr>
        <p:spPr>
          <a:xfrm>
            <a:off x="7710487" y="2322516"/>
            <a:ext cx="76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BF0"/>
                </a:solidFill>
                <a:latin typeface="DM Sans"/>
                <a:ea typeface="DM Sans"/>
                <a:cs typeface="DM Sans"/>
                <a:sym typeface="DM Sans"/>
              </a:rPr>
              <a:t>Execute DSA Algorithm</a:t>
            </a:r>
            <a:endParaRPr lang="en-US" sz="1350" b="0" i="0" u="none" strike="noStrike" cap="none">
              <a:solidFill>
                <a:srgbClr val="FFFBF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9434512" y="2322516"/>
            <a:ext cx="1227392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BF0"/>
                </a:solidFill>
                <a:latin typeface="DM Sans"/>
                <a:ea typeface="DM Sans"/>
                <a:cs typeface="DM Sans"/>
                <a:sym typeface="DM Sans"/>
              </a:rPr>
              <a:t>View Computed Result</a:t>
            </a:r>
            <a:endParaRPr dirty="0"/>
          </a:p>
        </p:txBody>
      </p:sp>
      <p:pic>
        <p:nvPicPr>
          <p:cNvPr id="233" name="Google Shape;233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346722" y="1751090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233862" y="1627191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153150" y="1627191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8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7910512" y="1627191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8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9772650" y="1627191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8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1902619" y="1492055"/>
            <a:ext cx="938212" cy="8038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" name="Google Shape;162;p16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3138487" y="4585819"/>
            <a:ext cx="5334000" cy="1318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Next Steps &amp; Deadlines</a:t>
            </a:r>
            <a:endParaRPr lang="en-US" sz="3600" b="1" i="0" u="none" strike="noStrike" cap="none">
              <a:solidFill>
                <a:srgbClr val="003366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244" name="Google Shape;244;p19"/>
          <p:cNvGraphicFramePr/>
          <p:nvPr/>
        </p:nvGraphicFramePr>
        <p:xfrm>
          <a:off x="571500" y="2286000"/>
          <a:ext cx="8839200" cy="3600450"/>
        </p:xfrm>
        <a:graphic>
          <a:graphicData uri="http://schemas.openxmlformats.org/drawingml/2006/table">
            <a:tbl>
              <a:tblPr firstRow="1" bandRow="1">
                <a:noFill/>
                <a:tableStyleId>{3CCF8681-72F3-4CD6-9944-A3900A979407}</a:tableStyleId>
              </a:tblPr>
              <a:tblGrid>
                <a:gridCol w="5500116"/>
                <a:gridCol w="3339084"/>
              </a:tblGrid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Task / Milestone</a:t>
                      </a:r>
                      <a:endParaRPr lang="en-US" sz="1500" b="1" i="0" u="none" strike="noStrike" cap="non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Deadline</a:t>
                      </a:r>
                      <a:endParaRPr lang="en-US" sz="1500" b="1" i="0" u="none" strike="noStrike" cap="non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 Core Module Implementation</a:t>
                      </a:r>
                      <a:endParaRPr lang="en-US" sz="1500" b="1" i="0" u="none" strike="noStrike" cap="none">
                        <a:solidFill>
                          <a:srgbClr val="33333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July 25th</a:t>
                      </a:r>
                      <a:endParaRPr lang="en-IN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Integrate File Handling &amp; Storage</a:t>
                      </a:r>
                      <a:endParaRPr lang="en-US" sz="1500" b="1" i="0" u="none" strike="noStrike" cap="none">
                        <a:solidFill>
                          <a:srgbClr val="33333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>
                          <a:sym typeface="+mn-ea"/>
                        </a:rPr>
                        <a:t>July 25th</a:t>
                      </a:r>
                      <a:endParaRPr lang="en-US"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Exception Handling &amp; Testing</a:t>
                      </a:r>
                      <a:endParaRPr lang="en-US" sz="1500" b="1" i="0" u="none" strike="noStrike" cap="none">
                        <a:solidFill>
                          <a:srgbClr val="33333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>
                          <a:sym typeface="+mn-ea"/>
                        </a:rPr>
                        <a:t>July 25th</a:t>
                      </a:r>
                      <a:endParaRPr lang="en-US"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Final Report Generation Logic</a:t>
                      </a:r>
                      <a:endParaRPr lang="en-US" sz="1500" b="1" i="0" u="none" strike="noStrike" cap="none">
                        <a:solidFill>
                          <a:srgbClr val="33333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>
                          <a:sym typeface="+mn-ea"/>
                        </a:rPr>
                        <a:t>July 25th</a:t>
                      </a:r>
                      <a:endParaRPr lang="en-US"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Final Project Submission</a:t>
                      </a:r>
                      <a:endParaRPr lang="en-US" sz="1500" b="1" i="0" u="none" strike="noStrike" cap="none">
                        <a:solidFill>
                          <a:srgbClr val="33333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>
                          <a:sym typeface="+mn-ea"/>
                        </a:rPr>
                        <a:t>July 25th</a:t>
                      </a:r>
                      <a:endParaRPr lang="en-US"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5" name="Google Shape;245;p19"/>
          <p:cNvSpPr/>
          <p:nvPr/>
        </p:nvSpPr>
        <p:spPr>
          <a:xfrm>
            <a:off x="571500" y="2871787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6096000" y="287178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9410700" y="287178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571500" y="3471862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096000" y="347186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9410700" y="3471862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571500" y="4071937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6096000" y="407193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9410700" y="407193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571500" y="4672012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6096000" y="467201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9410700" y="4672012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571500" y="5272087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6096000" y="527208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9410700" y="527208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571500" y="5872162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6096000" y="587216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9410700" y="5872162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/>
          <p:nvPr/>
        </p:nvSpPr>
        <p:spPr>
          <a:xfrm>
            <a:off x="3855719" y="2275582"/>
            <a:ext cx="448056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BF0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Thank You!</a:t>
            </a:r>
            <a:endParaRPr lang="en-US" sz="6000" b="1" i="0" u="none" strike="noStrike" cap="none">
              <a:solidFill>
                <a:srgbClr val="FFFBF0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pic>
        <p:nvPicPr>
          <p:cNvPr id="270" name="Google Shape;270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500687" y="961132"/>
            <a:ext cx="119062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2151</Words>
  <Application>WPS Presentation</Application>
  <PresentationFormat>Widescreen</PresentationFormat>
  <Paragraphs>150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Merriweather</vt:lpstr>
      <vt:lpstr>DM Sans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Ayan Roy</cp:lastModifiedBy>
  <cp:revision>10</cp:revision>
  <dcterms:created xsi:type="dcterms:W3CDTF">2026-06-24T17:36:00Z</dcterms:created>
  <dcterms:modified xsi:type="dcterms:W3CDTF">2026-06-24T17:48:54Z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A2B0FFC508884479ABB94C3BAEA48FED_12</vt:lpwstr>
  </property>
  <property fmtid="{D5CDD505-2E9C-101B-9397-08002B2CF9AE}" pid="3" name="KSOProductBuildVer">
    <vt:lpwstr>2057-12.2.0.23203</vt:lpwstr>
  </property>
</Properties>
</file>